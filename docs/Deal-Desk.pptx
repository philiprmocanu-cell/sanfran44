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F5A52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F5A52"/>
                </a:solidFill>
                <a:latin typeface="+mn-lt"/>
              </a:rPr>
              <a:t>Feel awkward asking their boss for help¹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Feel awkward asking for help</c:v>
                </c:pt>
              </c:strCache>
            </c:strRef>
          </c:tx>
          <c:spPr>
            <a:solidFill>
              <a:srgbClr val="FF7A2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2623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7A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1B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Age 18–24</c:v>
                  </c:pt>
                  <c:pt idx="1">
                    <c:v>Age 45–54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</c:v>
                </c:pt>
                <c:pt idx="1">
                  <c:v>14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800" u="none">
                  <a:solidFill>
                    <a:srgbClr val="2623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5A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eal-desk-production-7983.up.railway.app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hilipmocanu-Desktop/2c81bcb0-7559-4d80-b731-3780f0308d77/scratchpad/deck/bull-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960120"/>
            <a:ext cx="3566160" cy="241368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DESK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senior about a live deal.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knows it was you.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3337560"/>
            <a:ext cx="2377440" cy="411480"/>
          </a:xfrm>
          <a:prstGeom prst="roundRect">
            <a:avLst>
              <a:gd name="adj" fmla="val 48889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inside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Users hackathon · San Francisco · Oct 10,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acquisitions miss the goals the buyer set for them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70–75%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acquisitions fail to deliver their stated goals, across roughly 40,000 deals over 40 years¹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60720" y="1463040"/>
            <a:ext cx="2926080" cy="2194560"/>
          </a:xfrm>
          <a:prstGeom prst="roundRect">
            <a:avLst>
              <a:gd name="adj" fmla="val 7500"/>
            </a:avLst>
          </a:prstGeom>
          <a:solidFill>
            <a:srgbClr val="3A3631"/>
          </a:solidFill>
          <a:ln w="12700">
            <a:solidFill>
              <a:srgbClr val="3A36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1600200"/>
            <a:ext cx="2606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closest to the work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9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and associates build the models and read the documents, and they are the least likely to ask when something looks wrong.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8C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Baruch Lev and Feng Gu, analysis of ~40,000 acquisitions, reported in Fortune, Nov 2024.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PEOPLE STAY QUIET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staff are almost 3x as likely to feel awkward asking for help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937760" cy="3337560"/>
          </a:xfrm>
          <a:prstGeom prst="roundRect">
            <a:avLst>
              <a:gd name="adj" fmla="val 49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40080" y="1371600"/>
          <a:ext cx="45720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234440"/>
            <a:ext cx="301752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852160" y="132588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leaders make their teams feel safe to speak up²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669280" y="3017520"/>
            <a:ext cx="301752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852160" y="31089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 safe to speak up was the top trait of Google's best teams, out of 180 studied³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A93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UK workplace survey, 2012 (BHP). ² McKinsey Global Survey, 2021. ³ Google Project Aristotle, 2012–2014.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BANKERS DO INSTEAD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Bankers already go around official channels, and regulators charge for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51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SEC and CFTC fines since Dec 2021 for work talk on WhatsApp and texts that firms never recorded¹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937760" y="1371600"/>
            <a:ext cx="374904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66360" y="1600200"/>
            <a:ext cx="384048" cy="384048"/>
          </a:xfrm>
          <a:prstGeom prst="ellipse">
            <a:avLst/>
          </a:prstGeom>
          <a:solidFill>
            <a:srgbClr val="26231F"/>
          </a:solidFill>
          <a:ln w="12700">
            <a:solidFill>
              <a:srgbClr val="2623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663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154533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firms fined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JPMorgan, Goldman Sachs and Citi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66360" y="2514600"/>
            <a:ext cx="384048" cy="384048"/>
          </a:xfrm>
          <a:prstGeom prst="ellipse">
            <a:avLst/>
          </a:prstGeom>
          <a:solidFill>
            <a:srgbClr val="26231F"/>
          </a:solidFill>
          <a:ln w="12700">
            <a:solidFill>
              <a:srgbClr val="2623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663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245973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chats are where the real questions go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they feel safe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66360" y="3429000"/>
            <a:ext cx="384048" cy="384048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6636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37413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Desk keeps the safety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adds a sealed record for compliance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A93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InvestmentNews and Bloomberg reporting on SEC/CFTC recordkeeping settlements, Dec 2021 – Aug 2023.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junior asks, two matched seniors answer, and neither learns who the other 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28800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a deal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it from the firm's deal database, with its files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3317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87752" y="1417320"/>
            <a:ext cx="1828800" cy="2331720"/>
          </a:xfrm>
          <a:prstGeom prst="roundRect">
            <a:avLst>
              <a:gd name="adj" fmla="val 9000"/>
            </a:avLst>
          </a:prstGeom>
          <a:solidFill>
            <a:srgbClr val="FFF3EA"/>
          </a:solidFill>
          <a:ln w="12700">
            <a:solidFill>
              <a:srgbClr val="FFF3EA"/>
            </a:solidFill>
            <a:prstDash val="solid"/>
          </a:ln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70632" y="1600200"/>
            <a:ext cx="457200" cy="45720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7063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2194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become codenames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“Northwind” becomes “Project Falcon (Buyer)” before anyone reads 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3317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18304" y="1417320"/>
            <a:ext cx="1828800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01184" y="1600200"/>
            <a:ext cx="457200" cy="45720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0118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901184" y="2194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to 2 seniors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by deal type and sector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47104" y="23317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48856" y="1417320"/>
            <a:ext cx="1828800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31736" y="1600200"/>
            <a:ext cx="457200" cy="45720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3173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31736" y="2194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comes back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line, their words, why, and what to watch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26231F"/>
          </a:solidFill>
          <a:ln w="12700">
            <a:solidFill>
              <a:srgbClr val="2623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sees only an anonymous handle and a level.  </a:t>
            </a:r>
            <a:pPr indent="0" marL="0">
              <a:buNone/>
            </a:pPr>
            <a:r>
              <a:rPr lang="en-US" sz="1300" dirty="0">
                <a:solidFill>
                  <a:srgbClr val="D9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keeps a sealed copy it can open if regulators ask.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junior attaches the deal and asks in plain words</a:t>
            </a:r>
            <a:endParaRPr lang="en-US" sz="2800" dirty="0"/>
          </a:p>
        </p:txBody>
      </p:sp>
      <p:pic>
        <p:nvPicPr>
          <p:cNvPr id="4" name="Image 0" descr="/private/tmp/claude-501/-Users-philipmocanu-Desktop/2c81bcb0-7559-4d80-b731-3780f0308d77/scratchpad/deck/crop-as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617333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897880" y="123444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database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deals: mergers, LBOs, spin-offs, hostile bids, earnings events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come along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sheet, model notes, timeline, or the junior's own file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junior sees what seniors will see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anonymous handle and level, never a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reply in their own words, and the junior gets a short, structured answer</a:t>
            </a:r>
            <a:endParaRPr lang="en-US" sz="2800" dirty="0"/>
          </a:p>
        </p:txBody>
      </p:sp>
      <p:pic>
        <p:nvPicPr>
          <p:cNvPr id="4" name="Image 0" descr="/private/tmp/claude-501/-Users-philipmocanu-Desktop/2c81bcb0-7559-4d80-b731-3780f0308d77/scratchpad/deck/crop-resul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0693" y="1188720"/>
            <a:ext cx="4126107" cy="352044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123444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Formatted like a Sense AI result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line, quotes, why, watch-outs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write normally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turns a quick reply into a clear answer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views per question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summary shows where the seniors agree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Professionals already use anonymous channels and lose time waiting for answers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283464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7M+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professionals use Blind, an anonymous work app most popular in tech, finance and consulting¹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560320" cy="283464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20440" y="1645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560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28,747 professionals say waiting on answers interrupts their work²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560320" cy="283464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55080" y="1645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560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answer questions they have already answered before²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A93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Blind company blog; Fortune, Apr 2022. ² Stack Overflow Developer Survey 2024, professional developers.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TESTERS TOLD US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testers worry about names leaking and about IT approval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520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was mentioning names, and it's not supposed to mention names in that summary.”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Tester, on an AI summary at 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325880"/>
            <a:ext cx="397764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26231F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508760"/>
            <a:ext cx="3520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 use a new application or artificial intelligence, they have to go through IT. And IT has to approve it”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5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tester, on adopting new tools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21176"/>
            </a:avLst>
          </a:prstGeom>
          <a:solidFill>
            <a:srgbClr val="FFF3EA"/>
          </a:solidFill>
          <a:ln w="12700">
            <a:solidFill>
              <a:srgbClr val="FFF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749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in response: </a:t>
            </a:r>
            <a:pPr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names become codenames before any senior reads a question, and Deal Desk runs inside the bank with a sealed record for compliance.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A93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AI phone interview with a finance tester, Oct 10, 2026.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as a junior in one tab and a senior in another. Ask, answer, and watch the result come back.</a:t>
            </a:r>
            <a:endParaRPr lang="en-US" sz="1600" dirty="0"/>
          </a:p>
        </p:txBody>
      </p:sp>
      <p:sp>
        <p:nvSpPr>
          <p:cNvPr id="4" name="Text 2">
            <a:hlinkClick r:id="rId1" tooltip=""/>
          </p:cNvPr>
          <p:cNvSpPr txBox="1"/>
          <p:nvPr/>
        </p:nvSpPr>
        <p:spPr>
          <a:xfrm>
            <a:off x="54864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deal-desk-production-7983.up.railway.app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35040" y="960120"/>
            <a:ext cx="2651760" cy="265176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43000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open Deal Desk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 Desk</dc:title>
  <dc:subject>PptxGenJS Presentation</dc:subject>
  <dc:creator>PptxGenJS</dc:creator>
  <cp:lastModifiedBy>PptxGenJS</cp:lastModifiedBy>
  <cp:revision>1</cp:revision>
  <dcterms:created xsi:type="dcterms:W3CDTF">2026-10-11T01:09:28Z</dcterms:created>
  <dcterms:modified xsi:type="dcterms:W3CDTF">2026-10-11T01:09:28Z</dcterms:modified>
</cp:coreProperties>
</file>